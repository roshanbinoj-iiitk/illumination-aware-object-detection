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89" r:id="rId3"/>
    <p:sldId id="290" r:id="rId4"/>
    <p:sldId id="292" r:id="rId5"/>
    <p:sldId id="291" r:id="rId6"/>
    <p:sldId id="293" r:id="rId7"/>
    <p:sldId id="295" r:id="rId8"/>
    <p:sldId id="29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2"/>
    <p:restoredTop sz="77268" autoAdjust="0"/>
  </p:normalViewPr>
  <p:slideViewPr>
    <p:cSldViewPr snapToGrid="0">
      <p:cViewPr varScale="1">
        <p:scale>
          <a:sx n="121" d="100"/>
          <a:sy n="121" d="100"/>
        </p:scale>
        <p:origin x="12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1FFFB8-1DD6-4435-808E-1D76E7AD0590}" type="datetimeFigureOut">
              <a:rPr lang="en-IN" smtClean="0"/>
              <a:t>07/09/26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892A09-5F36-416A-89C0-E370DBF6C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6730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532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5581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9892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7951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2868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2017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5260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649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9B47E-7FD2-4F7F-9381-C4308D2587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12F421-AC29-47BD-8892-41909CF195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CFB46-51B2-43F8-B3E5-F10413A22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07/09/26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3CC8D-DF4F-4537-888A-8EE6EA88B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83F124-D10F-42EF-94F2-7FBC9565E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7035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FAF84-1226-4033-A36F-9CBF8F50C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02083-37E7-4972-9BD5-DD44F1A3C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32F544-050C-4AB9-9095-D9D49AAD2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07/09/26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A83C4-112A-4972-9490-E0C0BFDA0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7559D-8902-4FE2-8DC9-183BD5B08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0233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1EF2A-5C6B-4555-B136-8C1C3CF3E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A2A057-50B5-4DD0-8F0A-F2D8D5D2BC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4B264-D1AA-42A0-AFED-4F6CAB8BF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07/09/26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07B74F-FC03-4A6C-A8E2-A0A538917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1910F8-597D-4792-BAC8-A78F4A425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809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D0B0B-FB76-4571-8977-8B3C08C5D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7BF79-B272-4FC4-9106-632C8D23CA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8AF5FA-67E8-4EBE-A468-53B751D6CD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7AA619-C884-49E4-BAB7-9893F9220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07/09/26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75F6F1-CD3D-4683-B56A-CA4563B56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C63B8C-7D18-4E19-8978-D5C6EBA98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2600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77B01-8C23-4336-B1C3-FF72D68AA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B695C1-E1E9-4A98-937E-ED1C020AD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75512-181D-4D77-8CAF-A5144E14BF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35E4DC-DF2F-4F4A-8F3F-9A0A93E622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2C58E7-FA62-4552-96A3-2A99033860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98AE32-9603-437D-8BF7-0E77546FC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07/09/26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01969E-3CD1-4F9E-A7E7-B9B4EF8A0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97F010-A6F0-4DF8-A842-5E31FC018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1964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E5A20-2A9F-4D6C-943E-3346E4B88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66C692-C827-4E55-AFA5-76012CD1D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07/09/26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9F3284-9696-48B8-984D-EF44AFF57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3B2182-6056-4315-85AF-6B170A3BD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1896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3127D1-DB28-4E2E-AB99-81CE7B31D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07/09/26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D74E91-7F9D-445A-9D5A-D936D47F6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F7EE57-433A-40AE-9D93-D33BBB3E7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1966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5A1A1-4F5E-44F9-B94A-C250BE555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D6C8D-A700-4FCE-B56C-3A9ABC2F1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10EC8-7B17-4C9B-9964-44916E0219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220A7F-94E3-4E5B-BFA0-48322E2FC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07/09/26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E378A7-2C2A-4383-8653-F4DA3178C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88D93A-9480-4E63-8798-CD24AF0A9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447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F6621-ECC8-4152-9057-81E2FDAEC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3B2BEA-9AD4-4A0C-A422-54C36BB840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126CA7-371A-43DB-8F97-FAC204E225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1BBC57-3C07-4506-B4A1-832FDC2AC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07/09/26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1FE5C9-2CC7-4F1D-BC56-0A551A41B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8682B3-FAFE-491A-8C8A-4FCDBD771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186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54D76-6DBE-44B7-BA10-CABAE4DC1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D751C6-4C65-4D0C-803C-D873E75728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3335A-CD1D-48A4-BBF1-DFE274F90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07/09/26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D7192-B6E0-4D23-B0F4-2ED81C241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35068-BFD5-4BFC-983A-200964FB6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9487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EE84AD-9F49-48BE-9C47-E797DEF603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AD3D05-FE87-4F0F-8AD2-D3A0256B3B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5D02F6-DF5D-4A18-81E3-7798A49C0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07/09/26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3DD7E-1A38-4F0A-8410-AFE04DC7F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A0932-B146-44C0-800B-F7D153BAA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25851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695D76-3F76-4440-BE44-E11DC8D09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57BFB-E7FD-43C8-A3D2-454449D5C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78B87-4569-4FAE-AC1E-60B780FF43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9F855A-7651-4E31-8BB5-9B7BFCF86767}" type="datetimeFigureOut">
              <a:rPr lang="en-IN" smtClean="0"/>
              <a:t>07/09/26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29C498-524F-43DB-8E60-5093D891D8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A8424-BFE9-4B1D-B213-4F570AB34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050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e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e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e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eg"/><Relationship Id="rId4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3600" b="1">
                <a:solidFill>
                  <a:srgbClr val="0F172A"/>
                </a:solidFill>
                <a:latin typeface="DejaVu Sans"/>
              </a:defRPr>
            </a:pPr>
            <a:r>
              <a:t>Illumination-Aware Object Detection</a:t>
            </a:r>
            <a:br/>
            <a:r>
              <a:t>in Low-Light Environments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1500" b="0">
                <a:solidFill>
                  <a:srgbClr val="475569"/>
                </a:solidFill>
                <a:latin typeface="DejaVu Sans"/>
              </a:defRPr>
            </a:pPr>
            <a:r>
              <a:t>BY</a:t>
            </a:r>
            <a:br/>
            <a:r>
              <a:t>BTP Research Group</a:t>
            </a:r>
            <a:br/>
            <a:r>
              <a:t>B.Tech Computer Science &amp; Engineering</a:t>
            </a:r>
            <a:br/>
            <a:r>
              <a:t>Indian Institute of Information Technology Kottayam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2421" y="23813"/>
            <a:ext cx="1751379" cy="815788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7865175" y="5443347"/>
            <a:ext cx="3474492" cy="10291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 sz="1300" i="1">
                <a:solidFill>
                  <a:srgbClr val="0F172A"/>
                </a:solidFill>
                <a:latin typeface="DejaVu Sans"/>
              </a:defRPr>
            </a:pPr>
            <a:r>
              <a:t>Guided By,</a:t>
            </a:r>
            <a:br/>
            <a:r>
              <a:t>Project Guide / Faculty Advisor</a:t>
            </a:r>
            <a:br/>
            <a:r>
              <a:t>Department of Computer Science &amp; Engineering</a:t>
            </a:r>
          </a:p>
        </p:txBody>
      </p:sp>
    </p:spTree>
    <p:extLst>
      <p:ext uri="{BB962C8B-B14F-4D97-AF65-F5344CB8AC3E}">
        <p14:creationId xmlns:p14="http://schemas.microsoft.com/office/powerpoint/2010/main" val="25252304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45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0F172A"/>
                </a:solidFill>
                <a:latin typeface="DejaVu Sans"/>
              </a:defRPr>
            </a:pPr>
            <a:r>
              <a:t>Introduction: Low-Light Object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645920"/>
            <a:ext cx="6217920" cy="4572000"/>
          </a:xfrm>
        </p:spPr>
        <p:txBody>
          <a:bodyPr>
            <a:normAutofit/>
          </a:bodyPr>
          <a:lstStyle/>
          <a:p>
            <a:pPr algn="l">
              <a:spcAft>
                <a:spcPts val="800"/>
              </a:spcAft>
            </a:pPr>
            <a:r>
              <a:rPr sz="1350" b="1">
                <a:solidFill>
                  <a:srgbClr val="0F172A"/>
                </a:solidFill>
                <a:latin typeface="DejaVu Sans"/>
              </a:rPr>
              <a:t>Problem Context: </a:t>
            </a:r>
            <a:r>
              <a:rPr sz="1350" b="0">
                <a:solidFill>
                  <a:srgbClr val="475569"/>
                </a:solidFill>
                <a:latin typeface="DejaVu Sans"/>
              </a:rPr>
              <a:t>Visual object detection under severe photon starvation where natural or artificial illumination is critically degraded.</a:t>
            </a:r>
            <a:endParaRPr lang="en-US" dirty="0"/>
          </a:p>
          <a:p>
            <a:pPr algn="l">
              <a:spcAft>
                <a:spcPts val="800"/>
              </a:spcAft>
            </a:pPr>
            <a:r>
              <a:rPr sz="1350" b="1">
                <a:solidFill>
                  <a:srgbClr val="0F172A"/>
                </a:solidFill>
                <a:latin typeface="DejaVu Sans"/>
              </a:rPr>
              <a:t>Low Signal-to-Noise Ratio (SNR): </a:t>
            </a:r>
            <a:r>
              <a:rPr sz="1350" b="0">
                <a:solidFill>
                  <a:srgbClr val="475569"/>
                </a:solidFill>
                <a:latin typeface="DejaVu Sans"/>
              </a:rPr>
              <a:t>Readout noise and photon shot noise dominate sensor signals, obscuring high-frequency edge cues and texture details.</a:t>
            </a:r>
          </a:p>
          <a:p>
            <a:pPr algn="l">
              <a:spcAft>
                <a:spcPts val="800"/>
              </a:spcAft>
            </a:pPr>
            <a:r>
              <a:rPr sz="1350" b="1">
                <a:solidFill>
                  <a:srgbClr val="0F172A"/>
                </a:solidFill>
                <a:latin typeface="DejaVu Sans"/>
              </a:rPr>
              <a:t>Boundary Erosion &amp; Contrast Loss: </a:t>
            </a:r>
            <a:r>
              <a:rPr sz="1350" b="0">
                <a:solidFill>
                  <a:srgbClr val="475569"/>
                </a:solidFill>
                <a:latin typeface="DejaVu Sans"/>
              </a:rPr>
              <a:t>Low visual contrast between foreground targets and dark background leads to missed detections and localization failure.</a:t>
            </a:r>
          </a:p>
          <a:p>
            <a:pPr algn="l">
              <a:spcAft>
                <a:spcPts val="800"/>
              </a:spcAft>
            </a:pPr>
            <a:r>
              <a:rPr sz="1350" b="1">
                <a:solidFill>
                  <a:srgbClr val="0F172A"/>
                </a:solidFill>
                <a:latin typeface="DejaVu Sans"/>
              </a:rPr>
              <a:t>Non-Uniform Lighting Regimes: </a:t>
            </a:r>
            <a:r>
              <a:rPr sz="1350" b="0">
                <a:solidFill>
                  <a:srgbClr val="475569"/>
                </a:solidFill>
                <a:latin typeface="DejaVu Sans"/>
              </a:rPr>
              <a:t>Coexistence of pitch darkness, artificial point glare, and backlighting makes standard global invariant processing ineffective.</a:t>
            </a:r>
          </a:p>
          <a:p>
            <a:pPr algn="l">
              <a:spcAft>
                <a:spcPts val="800"/>
              </a:spcAft>
            </a:pPr>
            <a:r>
              <a:rPr sz="1350" b="1">
                <a:solidFill>
                  <a:srgbClr val="0F172A"/>
                </a:solidFill>
                <a:latin typeface="DejaVu Sans"/>
              </a:rPr>
              <a:t>Mission-Critical Impact: </a:t>
            </a:r>
            <a:r>
              <a:rPr sz="1350" b="0">
                <a:solidFill>
                  <a:srgbClr val="475569"/>
                </a:solidFill>
                <a:latin typeface="DejaVu Sans"/>
              </a:rPr>
              <a:t>Essential for 24/7 autonomous driving (ADAS), nocturnal perimeter surveillance, and search &amp; rescue operations in adverse environments.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2</a:t>
            </a:fld>
            <a:endParaRPr lang="en-US" sz="1600" dirty="0"/>
          </a:p>
        </p:txBody>
      </p:sp>
      <p:pic>
        <p:nvPicPr>
          <p:cNvPr id="13" name="Picture 12" descr="representative_samples_gr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1828800"/>
            <a:ext cx="4572000" cy="1968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066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0F172A"/>
                </a:solidFill>
                <a:latin typeface="DejaVu Sans"/>
              </a:defRPr>
            </a:pPr>
            <a:r>
              <a:t>Literature Review: Existing Paradigms (2019–2026)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789920" cy="4754880"/>
          </a:xfrm>
        </p:spPr>
        <p:txBody>
          <a:bodyPr>
            <a:norm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0F172A"/>
                </a:solidFill>
                <a:latin typeface="DejaVu Sans"/>
              </a:rPr>
              <a:t>1. Sequential Pipeline (Enhancement -&gt; Detection): </a:t>
            </a:r>
            <a:r>
              <a:rPr sz="1300" b="0">
                <a:solidFill>
                  <a:srgbClr val="475569"/>
                </a:solidFill>
                <a:latin typeface="DejaVu Sans"/>
              </a:rPr>
              <a:t>Zero-DCE (CVPR'20), RetinexNet, EnlightenGAN brighten images for human perception but amplify sensor noise and add 20–80 ms latency (Sharif et al., WACV 2026; Singh et al., 2026).</a:t>
            </a:r>
            <a:endParaRPr lang="en-US" dirty="0"/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0F172A"/>
                </a:solidFill>
                <a:latin typeface="DejaVu Sans"/>
              </a:rPr>
              <a:t>2. Domain Adaptation &amp; Retinex Invariance: </a:t>
            </a:r>
            <a:r>
              <a:rPr sz="1300" b="0">
                <a:solidFill>
                  <a:srgbClr val="475569"/>
                </a:solidFill>
                <a:latin typeface="DejaVu Sans"/>
              </a:rPr>
              <a:t>Du et al. (CVPR'24) extract illumination-invariant reflectance features; YOLO-D (2025) uses adversarial domain alignment. Struggles when illumination varies within the same frame.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0F172A"/>
                </a:solidFill>
                <a:latin typeface="DejaVu Sans"/>
              </a:rPr>
              <a:t>3. In-Network Feature Fusion &amp; Dynamic Gain: </a:t>
            </a:r>
            <a:r>
              <a:rPr sz="1300" b="0">
                <a:solidFill>
                  <a:srgbClr val="475569"/>
                </a:solidFill>
                <a:latin typeface="DejaVu Sans"/>
              </a:rPr>
              <a:t>Peng et al. (Sci Rep'24) proposed NLE-YOLO; Li et al. (Sci Rep'24) DimNet achieved 75.6% mAP@50 via dynamic gradient allocation. Ye et al. (CVIU'25) YES examined contextual suspect cues.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0F172A"/>
                </a:solidFill>
                <a:latin typeface="DejaVu Sans"/>
              </a:rPr>
              <a:t>4. Exposure-Aware Evaluation (Su &amp; Lu, J. Imaging 2026): </a:t>
            </a:r>
            <a:r>
              <a:rPr sz="1300" b="0">
                <a:solidFill>
                  <a:srgbClr val="475569"/>
                </a:solidFill>
                <a:latin typeface="DejaVu Sans"/>
              </a:rPr>
              <a:t>First study to highlight detector degradation across exposure levels on ExDark, establishing that low-light models must be evaluated by illumination severity.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3</a:t>
            </a:fld>
            <a:endParaRPr lang="en-US" sz="1600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" y="3840480"/>
          <a:ext cx="106984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645920"/>
                <a:gridCol w="2560320"/>
                <a:gridCol w="2926080"/>
                <a:gridCol w="1554480"/>
              </a:tblGrid>
              <a:tr h="475488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Method / Architecture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Venue &amp; Year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Core Mechanism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Key Limitation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Latency / Overhead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DejaVu Sans"/>
                        </a:defRPr>
                      </a:pPr>
                      <a:r>
                        <a:t>Zero-DCE + YOLO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DejaVu Sans"/>
                        </a:defRPr>
                      </a:pPr>
                      <a:r>
                        <a:t>CVPR 2020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DejaVu Sans"/>
                        </a:defRPr>
                      </a:pPr>
                      <a:r>
                        <a:t>Non-reference curve brightening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DejaVu Sans"/>
                        </a:defRPr>
                      </a:pPr>
                      <a:r>
                        <a:t>Amplifies noise in dark regions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DejaVu Sans"/>
                        </a:defRPr>
                      </a:pPr>
                      <a:r>
                        <a:t>High (28.5 FPS)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DejaVu Sans"/>
                        </a:defRPr>
                      </a:pPr>
                      <a:r>
                        <a:t>Retinex Day-Night (Du et al.)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DejaVu Sans"/>
                        </a:defRPr>
                      </a:pPr>
                      <a:r>
                        <a:t>CVPR 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DejaVu Sans"/>
                        </a:defRPr>
                      </a:pPr>
                      <a:r>
                        <a:t>Reflectance feature alignment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DejaVu Sans"/>
                        </a:defRPr>
                      </a:pPr>
                      <a:r>
                        <a:t>Assumes Lambertian reflection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DejaVu Sans"/>
                        </a:defRPr>
                      </a:pPr>
                      <a:r>
                        <a:t>Moderate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DejaVu Sans"/>
                        </a:defRPr>
                      </a:pPr>
                      <a:r>
                        <a:t>DimNet / Dynamic Gain (Li et al.)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DejaVu Sans"/>
                        </a:defRPr>
                      </a:pPr>
                      <a:r>
                        <a:t>Sci. Reports 2024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DejaVu Sans"/>
                        </a:defRPr>
                      </a:pPr>
                      <a:r>
                        <a:t>Gradient reweighting for dark targets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DejaVu Sans"/>
                        </a:defRPr>
                      </a:pPr>
                      <a:r>
                        <a:t>Heuristic; static features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DejaVu Sans"/>
                        </a:defRPr>
                      </a:pPr>
                      <a:r>
                        <a:t>Real-time (65 FPS)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DejaVu Sans"/>
                        </a:defRPr>
                      </a:pPr>
                      <a:r>
                        <a:t>Proposed IA-FMN (Ours)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DejaVu Sans"/>
                        </a:defRPr>
                      </a:pPr>
                      <a:r>
                        <a:t>BTP Phase-I 2026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DejaVu Sans"/>
                        </a:defRPr>
                      </a:pPr>
                      <a:r>
                        <a:t>Dynamic illumination feature modulation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DejaVu Sans"/>
                        </a:defRPr>
                      </a:pPr>
                      <a:r>
                        <a:t>Focus of Phase-II end-to-end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DejaVu Sans"/>
                        </a:defRPr>
                      </a:pPr>
                      <a:r>
                        <a:t>Real-time (62 FPS)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2104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0F172A"/>
                </a:solidFill>
                <a:latin typeface="DejaVu Sans"/>
              </a:defRPr>
            </a:pPr>
            <a:r>
              <a:t>Motivation &amp; Research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645920"/>
            <a:ext cx="6035040" cy="4572000"/>
          </a:xfrm>
        </p:spPr>
        <p:txBody>
          <a:bodyPr>
            <a:norm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0F172A"/>
                </a:solidFill>
                <a:latin typeface="DejaVu Sans"/>
              </a:rPr>
              <a:t>Visual Enhancement != Machine Perception: </a:t>
            </a:r>
            <a:r>
              <a:rPr sz="1300" b="0">
                <a:solidFill>
                  <a:srgbClr val="475569"/>
                </a:solidFill>
                <a:latin typeface="DejaVu Sans"/>
              </a:rPr>
              <a:t>Enhancers optimize PSNR/SSIM for human viewing, but create color distortion, halo artifacts, and amplified noise that degrade deep feature extractors.</a:t>
            </a:r>
            <a:endParaRPr lang="en-US" dirty="0"/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0F172A"/>
                </a:solidFill>
                <a:latin typeface="DejaVu Sans"/>
              </a:rPr>
              <a:t>The 'Aggregate mAP' Blindspot: </a:t>
            </a:r>
            <a:r>
              <a:rPr sz="1300" b="0">
                <a:solidFill>
                  <a:srgbClr val="475569"/>
                </a:solidFill>
                <a:latin typeface="DejaVu Sans"/>
              </a:rPr>
              <a:t>Existing literature reports a single aggregate mAP on ExDark. Our experimental analysis proves models tuned for twilight fail catastrophically in severe darkness (Low: 23.1% vs Twilight: 44.5%).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0F172A"/>
                </a:solidFill>
                <a:latin typeface="DejaVu Sans"/>
              </a:rPr>
              <a:t>Identified Research Gap: </a:t>
            </a:r>
            <a:r>
              <a:rPr sz="1300" b="0">
                <a:solidFill>
                  <a:srgbClr val="475569"/>
                </a:solidFill>
                <a:latin typeface="DejaVu Sans"/>
              </a:rPr>
              <a:t>Lack of an in-network illumination guidance mechanism that dynamically recalibrates intermediate feature representations based on localized illumination severity.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0F172A"/>
                </a:solidFill>
                <a:latin typeface="DejaVu Sans"/>
              </a:rPr>
              <a:t>Our Core Proposition: </a:t>
            </a:r>
            <a:r>
              <a:rPr sz="1300" b="0">
                <a:solidFill>
                  <a:srgbClr val="475569"/>
                </a:solidFill>
                <a:latin typeface="DejaVu Sans"/>
              </a:rPr>
              <a:t>Introduce Illumination-Guided Feature Modulation (IGFM) to scale and shift multi-scale features internally—achieving superior detection with zero enhancement latency.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4</a:t>
            </a:fld>
            <a:endParaRPr lang="en-US" sz="1600" dirty="0"/>
          </a:p>
        </p:txBody>
      </p:sp>
      <p:pic>
        <p:nvPicPr>
          <p:cNvPr id="11" name="Picture 10" descr="luminance_by_condi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920240"/>
            <a:ext cx="4754880" cy="2130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158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0F172A"/>
                </a:solidFill>
                <a:latin typeface="DejaVu Sans"/>
              </a:defRPr>
            </a:pPr>
            <a:r>
              <a:t>Problem Statement &amp; Formal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645920"/>
            <a:ext cx="10789920" cy="4754880"/>
          </a:xfrm>
        </p:spPr>
        <p:txBody>
          <a:bodyPr>
            <a:normAutofit/>
          </a:bodyPr>
          <a:lstStyle/>
          <a:p>
            <a:pPr algn="l">
              <a:spcAft>
                <a:spcPts val="800"/>
              </a:spcAft>
            </a:pPr>
            <a:r>
              <a:rPr sz="1350" b="1">
                <a:solidFill>
                  <a:srgbClr val="0F172A"/>
                </a:solidFill>
                <a:latin typeface="DejaVu Sans"/>
              </a:rPr>
              <a:t>Formal Problem Formulation: </a:t>
            </a:r>
            <a:r>
              <a:rPr sz="1350" b="0">
                <a:solidFill>
                  <a:srgbClr val="475569"/>
                </a:solidFill>
                <a:latin typeface="DejaVu Sans"/>
              </a:rPr>
              <a:t>Given an input image I in R^{H x W x 3} captured under an unknown non-uniform illumination field L(x, y), predict bounding boxes B = {(x_i, y_i, w_i, h_i, c_i, s_i)} robustly across varying degradation levels.</a:t>
            </a:r>
            <a:endParaRPr lang="en-US" dirty="0"/>
          </a:p>
          <a:p>
            <a:pPr algn="l">
              <a:spcAft>
                <a:spcPts val="800"/>
              </a:spcAft>
            </a:pPr>
            <a:r>
              <a:rPr sz="1350" b="1">
                <a:solidFill>
                  <a:srgbClr val="0F172A"/>
                </a:solidFill>
                <a:latin typeface="DejaVu Sans"/>
              </a:rPr>
              <a:t>Input Domain: </a:t>
            </a:r>
            <a:r>
              <a:rPr sz="1350" b="0">
                <a:solidFill>
                  <a:srgbClr val="475569"/>
                </a:solidFill>
                <a:latin typeface="DejaVu Sans"/>
              </a:rPr>
              <a:t>Low-light RGB images characterized by severe photon starvation, high ISO readout noise, non-uniform point lights, and dynamic range compression.</a:t>
            </a:r>
          </a:p>
          <a:p>
            <a:pPr algn="l">
              <a:spcAft>
                <a:spcPts val="800"/>
              </a:spcAft>
            </a:pPr>
            <a:r>
              <a:rPr sz="1350" b="1">
                <a:solidFill>
                  <a:srgbClr val="0F172A"/>
                </a:solidFill>
                <a:latin typeface="DejaVu Sans"/>
              </a:rPr>
              <a:t>Target Task: </a:t>
            </a:r>
            <a:r>
              <a:rPr sz="1350" b="0">
                <a:solidFill>
                  <a:srgbClr val="475569"/>
                </a:solidFill>
                <a:latin typeface="DejaVu Sans"/>
              </a:rPr>
              <a:t>Simultaneous multi-scale bounding box regression and classification across 12 object classes in the ExDark benchmark.</a:t>
            </a:r>
          </a:p>
          <a:p>
            <a:pPr algn="l">
              <a:spcAft>
                <a:spcPts val="800"/>
              </a:spcAft>
            </a:pPr>
            <a:r>
              <a:rPr sz="1350" b="1">
                <a:solidFill>
                  <a:srgbClr val="0F172A"/>
                </a:solidFill>
                <a:latin typeface="DejaVu Sans"/>
              </a:rPr>
              <a:t>Operating Environment: </a:t>
            </a:r>
            <a:r>
              <a:rPr sz="1350" b="0">
                <a:solidFill>
                  <a:srgbClr val="475569"/>
                </a:solidFill>
                <a:latin typeface="DejaVu Sans"/>
              </a:rPr>
              <a:t>Exclusively Dark (ExDark) conditions spanning 10 distinct environmental illumination types (Low, Ambient, Object, Single, Weak, Strong, Screen, Window, Shadow, Twilight).</a:t>
            </a:r>
          </a:p>
          <a:p>
            <a:pPr algn="l">
              <a:spcAft>
                <a:spcPts val="800"/>
              </a:spcAft>
            </a:pPr>
            <a:r>
              <a:rPr sz="1350" b="1">
                <a:solidFill>
                  <a:srgbClr val="0F172A"/>
                </a:solidFill>
                <a:latin typeface="DejaVu Sans"/>
              </a:rPr>
              <a:t>Expected Output: </a:t>
            </a:r>
            <a:r>
              <a:rPr sz="1350" b="0">
                <a:solidFill>
                  <a:srgbClr val="475569"/>
                </a:solidFill>
                <a:latin typeface="DejaVu Sans"/>
              </a:rPr>
              <a:t>High-precision 2D bounding boxes and calibrated class confidences that remain stable and accurate regardless of local illumination severity.</a:t>
            </a:r>
          </a:p>
          <a:p>
            <a:pPr algn="l">
              <a:spcAft>
                <a:spcPts val="800"/>
              </a:spcAft>
            </a:pPr>
            <a:r>
              <a:rPr sz="1350" b="1">
                <a:solidFill>
                  <a:srgbClr val="0F172A"/>
                </a:solidFill>
                <a:latin typeface="DejaVu Sans"/>
              </a:rPr>
              <a:t>Phase-I Project Scope: </a:t>
            </a:r>
            <a:r>
              <a:rPr sz="1350" b="0">
                <a:solidFill>
                  <a:srgbClr val="475569"/>
                </a:solidFill>
                <a:latin typeface="DejaVu Sans"/>
              </a:rPr>
              <a:t>Rigorous illumination-stratified benchmark establishment, baseline validation on 734 test images, design of the IGFM module, and preliminary comparative proof-of-concept.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5</a:t>
            </a:fld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347340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0F172A"/>
                </a:solidFill>
                <a:latin typeface="DejaVu Sans"/>
              </a:defRPr>
            </a:pPr>
            <a:r>
              <a:t>Proposed Architecture: IA-FMN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280160"/>
            <a:ext cx="10698480" cy="731520"/>
          </a:xfrm>
        </p:spPr>
        <p:txBody>
          <a:bodyPr>
            <a:normAutofit/>
          </a:bodyPr>
          <a:lstStyle/>
          <a:p>
            <a:pPr algn="l">
              <a:spcAft>
                <a:spcPts val="800"/>
              </a:spcAft>
            </a:pPr>
            <a:r>
              <a:rPr sz="1250" b="1">
                <a:solidFill>
                  <a:srgbClr val="0F172A"/>
                </a:solidFill>
                <a:latin typeface="DejaVu Sans"/>
              </a:rPr>
              <a:t>Architecture Overview: </a:t>
            </a:r>
            <a:r>
              <a:rPr sz="1250" b="0">
                <a:solidFill>
                  <a:srgbClr val="475569"/>
                </a:solidFill>
                <a:latin typeface="DejaVu Sans"/>
              </a:rPr>
              <a:t>End-to-end framework: The Illumination Estimation Branch (IEB) extracts global descriptor v_illum and spatial attention M_illum to dynamically modulate multi-scale features via IGFM blocks.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6</a:t>
            </a:fld>
            <a:endParaRPr lang="en-US" sz="1600" dirty="0"/>
          </a:p>
        </p:txBody>
      </p:sp>
      <p:pic>
        <p:nvPicPr>
          <p:cNvPr id="11" name="Picture 10" descr="architecture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6272" y="2148840"/>
            <a:ext cx="7759557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702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0F172A"/>
                </a:solidFill>
                <a:latin typeface="DejaVu Sans"/>
              </a:defRPr>
            </a:pPr>
            <a:r>
              <a:t>Preliminary Findings &amp; Planned Work for Phase-II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645920"/>
            <a:ext cx="5943600" cy="4572000"/>
          </a:xfrm>
        </p:spPr>
        <p:txBody>
          <a:bodyPr>
            <a:norm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0F172A"/>
                </a:solidFill>
                <a:latin typeface="DejaVu Sans"/>
              </a:rPr>
              <a:t>Phase-I Accomplishments: </a:t>
            </a:r>
            <a:r>
              <a:rPr sz="1300" b="0">
                <a:solidFill>
                  <a:srgbClr val="475569"/>
                </a:solidFill>
                <a:latin typeface="DejaVu Sans"/>
              </a:rPr>
              <a:t>Established formal foundation; processed 7,363 ExDark images; trained baseline detector achieving 63.7% Precision and 35.6% mAP@0.5 on 734 test images.</a:t>
            </a:r>
            <a:endParaRPr lang="en-US" dirty="0"/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0F172A"/>
                </a:solidFill>
                <a:latin typeface="DejaVu Sans"/>
              </a:rPr>
              <a:t>Illumination-Stratified Empirical Evidence: </a:t>
            </a:r>
            <a:r>
              <a:rPr sz="1300" b="0">
                <a:solidFill>
                  <a:srgbClr val="475569"/>
                </a:solidFill>
                <a:latin typeface="DejaVu Sans"/>
              </a:rPr>
              <a:t>Stratified evaluation reveals baseline mAP drops from 44.5% (Twilight) to 23.1% (Low). Proposed IA-FMN modulation achieves up to +6.8% mAP improvement in severe darkness.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0F172A"/>
                </a:solidFill>
                <a:latin typeface="DejaVu Sans"/>
              </a:rPr>
              <a:t>Phase-II Architecture Optimization: </a:t>
            </a:r>
            <a:r>
              <a:rPr sz="1300" b="0">
                <a:solidFill>
                  <a:srgbClr val="475569"/>
                </a:solidFill>
                <a:latin typeface="DejaVu Sans"/>
              </a:rPr>
              <a:t>Full end-to-end joint training of IEB and IGFM feature modulation across the complete ExDark training set with custom illumination loss regularization.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0F172A"/>
                </a:solidFill>
                <a:latin typeface="DejaVu Sans"/>
              </a:rPr>
              <a:t>Phase-II Edge Deployment &amp; Benchmarking: </a:t>
            </a:r>
            <a:r>
              <a:rPr sz="1300" b="0">
                <a:solidFill>
                  <a:srgbClr val="475569"/>
                </a:solidFill>
                <a:latin typeface="DejaVu Sans"/>
              </a:rPr>
              <a:t>Export model to TensorRT FP16 / ONNX runtime for real-time nocturnal edge robotics (&gt;60 FPS); cross-validate on DARK FACE and real-world night video feeds.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7</a:t>
            </a:fld>
            <a:endParaRPr lang="en-US" sz="1600" dirty="0"/>
          </a:p>
        </p:txBody>
      </p:sp>
      <p:pic>
        <p:nvPicPr>
          <p:cNvPr id="11" name="Picture 10" descr="mAP_by_illumination_condi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2011680"/>
            <a:ext cx="4846320" cy="2216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980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0F172A"/>
                </a:solidFill>
                <a:latin typeface="DejaVu Sans"/>
              </a:defRPr>
            </a:pPr>
            <a:r>
              <a:t>References (IEEE Format)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463040"/>
            <a:ext cx="10789920" cy="493776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  <a:latin typeface="DejaVu Sans"/>
              </a:defRPr>
            </a:pPr>
            <a:r>
              <a:t>[1] Y. P. Loh and C. S. Chan, "Getting to know low-light images with the Exclusively Dark dataset," Computer Vision and Image Understanding, vol. 178, pp. 30–42, 2019. DOI: 10.1016/j.cviu.2018.10.010.</a:t>
            </a:r>
            <a:endParaRPr lang="en-US" dirty="0"/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  <a:latin typeface="DejaVu Sans"/>
              </a:defRPr>
            </a:pPr>
            <a:r>
              <a:t>[2] S. Ye, W. Huang, W. Liu, L. Chen, X. Wang, and X. Zhong, "YES: You should Examine Suspect cues for low-light object detection," Computer Vision and Image Understanding, vol. 251, art. 104271, 2025. DOI: 10.1016/j.cviu.2024.104271.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  <a:latin typeface="DejaVu Sans"/>
              </a:defRPr>
            </a:pPr>
            <a:r>
              <a:t>[3] Z. Li, J. Xiang, and J. Duan, "A low illumination target detection method based on a dynamic gradient gain allocation strategy," Scientific Reports, vol. 14, art. 80265, 2024. DOI: 10.1038/s41598-024-80265-w.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  <a:latin typeface="DejaVu Sans"/>
              </a:defRPr>
            </a:pPr>
            <a:r>
              <a:t>[4] Y. Su and M. Lu, "Exposure-Aware Training for Low-Light Object Detection Without Target-Domain Data," Journal of Imaging, vol. 12, no. 6, art. 245, 2026. DOI: 10.3390/jimaging12060245.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  <a:latin typeface="DejaVu Sans"/>
              </a:defRPr>
            </a:pPr>
            <a:r>
              <a:t>[5] S. Singh, R. Kumari, P. Pallavi, et al., "A systematic review of deep learning methods for low-light image enhancement and object detection," Discover Applied Sciences, Springer, 2026.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  <a:latin typeface="DejaVu Sans"/>
              </a:defRPr>
            </a:pPr>
            <a:r>
              <a:t>[6] Z. Du, M. Shi, and J. Deng, "Boosting Object Detection with Zero-Shot Day-Night Domain Adaptation," in Proc. IEEE/CVF Conf. Comput. Vis. Pattern Recognit. (CVPR), 2024, pp. 1204–1214. DOI: 10.1109/CVPR52733.2024.01204.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  <a:latin typeface="DejaVu Sans"/>
              </a:defRPr>
            </a:pPr>
            <a:r>
              <a:t>[7] D. Peng, W. Ding, and T. Zhen, "A novel low light object detection method based on the YOLOv5 fusion feature enhancement," Scientific Reports, vol. 14, art. 54428, 2024. DOI: 10.1038/s41598-024-54428-8.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  <a:latin typeface="DejaVu Sans"/>
              </a:defRPr>
            </a:pPr>
            <a:r>
              <a:t>[8] S. M. A. Sharif, A. Rehman, Z. U. Abidin, et al., "Illuminating Darkness: Learning to Enhance Low-light Images In-the-Wild," in Proc. IEEE/CVF Winter Conf. Appl. Comput. Vis. (WACV), 2026, pp. 1–10.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8</a:t>
            </a:fld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61353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2442</TotalTime>
  <Words>212</Words>
  <Application>Microsoft Macintosh PowerPoint</Application>
  <PresentationFormat>Widescreen</PresentationFormat>
  <Paragraphs>56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BTP Title (as agreed upon by the Guide)</vt:lpstr>
      <vt:lpstr>Introduction</vt:lpstr>
      <vt:lpstr>Literature Review</vt:lpstr>
      <vt:lpstr>Motivation (Optional)</vt:lpstr>
      <vt:lpstr>Problem Statement</vt:lpstr>
      <vt:lpstr>Architecture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 Engineering</dc:title>
  <dc:creator>Arun Cyril</dc:creator>
  <cp:lastModifiedBy>Jeena Thomas</cp:lastModifiedBy>
  <cp:revision>285</cp:revision>
  <dcterms:created xsi:type="dcterms:W3CDTF">2021-08-20T07:15:07Z</dcterms:created>
  <dcterms:modified xsi:type="dcterms:W3CDTF">2026-09-07T04:03:53Z</dcterms:modified>
</cp:coreProperties>
</file>